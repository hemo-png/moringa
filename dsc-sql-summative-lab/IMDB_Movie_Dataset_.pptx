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49640" y="-594360"/>
            <a:ext cx="4297680" cy="4297680"/>
          </a:xfrm>
          <a:prstGeom prst="ellipse">
            <a:avLst/>
          </a:prstGeom>
          <a:solidFill>
            <a:srgbClr val="192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9720" y="91440"/>
            <a:ext cx="2971800" cy="2971800"/>
          </a:xfrm>
          <a:prstGeom prst="ellipse">
            <a:avLst/>
          </a:prstGeom>
          <a:solidFill>
            <a:srgbClr val="30B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21240" y="841248"/>
            <a:ext cx="1508760" cy="1508760"/>
          </a:xfrm>
          <a:prstGeom prst="ellipse">
            <a:avLst/>
          </a:prstGeom>
          <a:solidFill>
            <a:srgbClr val="11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987552"/>
            <a:ext cx="91440" cy="2057400"/>
          </a:xfrm>
          <a:prstGeom prst="rect">
            <a:avLst/>
          </a:prstGeom>
          <a:solidFill>
            <a:srgbClr val="FF8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987552"/>
            <a:ext cx="70408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30BEB0"/>
                </a:solidFill>
                <a:latin typeface="Aptos"/>
              </a:rPr>
              <a:t>IMDB MOVIE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44752"/>
            <a:ext cx="758952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 i="0">
                <a:solidFill>
                  <a:srgbClr val="FFFFFF"/>
                </a:solidFill>
                <a:latin typeface="Aptos"/>
              </a:rPr>
              <a:t>Exploratory
Data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82112"/>
            <a:ext cx="71323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B9C7D6"/>
                </a:solidFill>
                <a:latin typeface="Aptos"/>
              </a:rPr>
              <a:t>Production trends, runtimes and genre performance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" y="5138928"/>
            <a:ext cx="3886200" cy="658368"/>
          </a:xfrm>
          <a:prstGeom prst="roundRect">
            <a:avLst/>
          </a:prstGeom>
          <a:solidFill>
            <a:srgbClr val="192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5321808"/>
            <a:ext cx="3429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Prepared by Phil Nzomo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72200"/>
            <a:ext cx="45720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30BEB0"/>
                </a:solidFill>
                <a:latin typeface="Aptos"/>
              </a:rPr>
              <a:t>DATA • PATTERNS • INSIGHTS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8046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 i="0">
                <a:solidFill>
                  <a:srgbClr val="B9C7D6"/>
                </a:solidFill>
                <a:latin typeface="Aptos"/>
              </a:rPr>
              <a:t>IMDB MOVIE DATASET  •  EXPLORATORY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30BEB0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73152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30BEB0"/>
                </a:solidFill>
                <a:latin typeface="Aptos"/>
              </a:rPr>
              <a:t>01 / DATASET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03044"/>
                </a:solidFill>
                <a:latin typeface="Aptos"/>
              </a:rPr>
              <a:t>What the dataset helps us explore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353312"/>
            <a:ext cx="713232" cy="50292"/>
          </a:xfrm>
          <a:prstGeom prst="rect">
            <a:avLst/>
          </a:prstGeom>
          <a:solidFill>
            <a:srgbClr val="FF8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1536192"/>
            <a:ext cx="10789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647486"/>
                </a:solidFill>
                <a:latin typeface="Aptos"/>
              </a:rPr>
              <a:t>The analysis focuses on movie releases from 2000 through 2025.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23160"/>
            <a:ext cx="3337560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423160"/>
            <a:ext cx="3337560" cy="91440"/>
          </a:xfrm>
          <a:prstGeom prst="rect">
            <a:avLst/>
          </a:prstGeom>
          <a:solidFill>
            <a:srgbClr val="30B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72491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47486"/>
                </a:solidFill>
                <a:latin typeface="Aptos"/>
              </a:rPr>
              <a:t>TIMEFRAME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27248"/>
            <a:ext cx="28346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03044"/>
                </a:solidFill>
                <a:latin typeface="Aptos"/>
              </a:rPr>
              <a:t>2000–2025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730752"/>
            <a:ext cx="2761488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C5C6F"/>
                </a:solidFill>
                <a:latin typeface="Aptos"/>
              </a:rPr>
              <a:t>A view of releases across the modern cinematic era.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24528" y="2423160"/>
            <a:ext cx="3337560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24528" y="2423160"/>
            <a:ext cx="3337560" cy="91440"/>
          </a:xfrm>
          <a:prstGeom prst="rect">
            <a:avLst/>
          </a:prstGeom>
          <a:solidFill>
            <a:srgbClr val="FF8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72491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47486"/>
                </a:solidFill>
                <a:latin typeface="Aptos"/>
              </a:rPr>
              <a:t>PRODUCTION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127248"/>
            <a:ext cx="28346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03044"/>
                </a:solidFill>
                <a:latin typeface="Aptos"/>
              </a:rPr>
              <a:t>Upward trend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730752"/>
            <a:ext cx="2761488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C5C6F"/>
                </a:solidFill>
                <a:latin typeface="Aptos"/>
              </a:rPr>
              <a:t>The source analysis describes production as rising over the past two decades.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08975" y="2423160"/>
            <a:ext cx="3337560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08975" y="2423160"/>
            <a:ext cx="3337560" cy="91440"/>
          </a:xfrm>
          <a:prstGeom prst="rect">
            <a:avLst/>
          </a:prstGeom>
          <a:solidFill>
            <a:srgbClr val="30B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65007" y="272491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47486"/>
                </a:solidFill>
                <a:latin typeface="Aptos"/>
              </a:rPr>
              <a:t>GENRES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5007" y="3127248"/>
            <a:ext cx="28346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03044"/>
                </a:solidFill>
                <a:latin typeface="Aptos"/>
              </a:rPr>
              <a:t>Drama &amp; Comedy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7" y="3730752"/>
            <a:ext cx="2761488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C5C6F"/>
                </a:solidFill>
                <a:latin typeface="Aptos"/>
              </a:rPr>
              <a:t>These core genres and their combinations account for a large share of releases.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166360"/>
            <a:ext cx="10469880" cy="621792"/>
          </a:xfrm>
          <a:prstGeom prst="roundRect">
            <a:avLst/>
          </a:prstGeom>
          <a:solidFill>
            <a:srgbClr val="E0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340096"/>
            <a:ext cx="14173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3044"/>
                </a:solidFill>
                <a:latin typeface="Aptos"/>
              </a:rPr>
              <a:t>Analysis focus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5321808"/>
            <a:ext cx="8138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03044"/>
                </a:solidFill>
                <a:latin typeface="Aptos"/>
              </a:rPr>
              <a:t>Explore how runtime, genre and audience ratings relate to one another.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10528"/>
            <a:ext cx="8046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 i="0">
                <a:solidFill>
                  <a:srgbClr val="697A8C"/>
                </a:solidFill>
                <a:latin typeface="Aptos"/>
              </a:rPr>
              <a:t>IMDB MOVIE DATASET  •  EXPLORATORY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30BEB0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73152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30BEB0"/>
                </a:solidFill>
                <a:latin typeface="Aptos"/>
              </a:rPr>
              <a:t>02 / BUSINESS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Aptos"/>
              </a:rPr>
              <a:t>Does runtime influence audience reception?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353312"/>
            <a:ext cx="713232" cy="50292"/>
          </a:xfrm>
          <a:prstGeom prst="rect">
            <a:avLst/>
          </a:prstGeom>
          <a:solidFill>
            <a:srgbClr val="FF8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1536192"/>
            <a:ext cx="10789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B9C7D6"/>
                </a:solidFill>
                <a:latin typeface="Aptos"/>
              </a:rPr>
              <a:t>A practical question for planning future film projects.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67712"/>
            <a:ext cx="6812280" cy="2514600"/>
          </a:xfrm>
          <a:prstGeom prst="roundRect">
            <a:avLst/>
          </a:prstGeom>
          <a:solidFill>
            <a:srgbClr val="192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57860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30BEB0"/>
                </a:solidFill>
                <a:latin typeface="Aptos"/>
              </a:rPr>
              <a:t>CORE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999232"/>
            <a:ext cx="589788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Aptos"/>
              </a:rPr>
              <a:t>Should a studio adjust upcoming film lengths to improve audience ratings?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2267712"/>
            <a:ext cx="3611880" cy="2514600"/>
          </a:xfrm>
          <a:prstGeom prst="roundRect">
            <a:avLst/>
          </a:prstGeom>
          <a:solidFill>
            <a:srgbClr val="FFE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19872" y="2578608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B45343"/>
                </a:solidFill>
                <a:latin typeface="Aptos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9872" y="2999232"/>
            <a:ext cx="2816352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03044"/>
                </a:solidFill>
                <a:latin typeface="Aptos"/>
              </a:rPr>
              <a:t>Longer films can require larger production budgets. If extra runtime does not bring stronger ratings, more efficient runtimes may help control costs.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330952"/>
            <a:ext cx="98755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B9C7D6"/>
                </a:solidFill>
                <a:latin typeface="Aptos"/>
              </a:rPr>
              <a:t>The chart on the next slide explores the relationship between runtime and average IMDb rating.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8046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 i="0">
                <a:solidFill>
                  <a:srgbClr val="B9C7D6"/>
                </a:solidFill>
                <a:latin typeface="Aptos"/>
              </a:rPr>
              <a:t>IMDB MOVIE DATASET  •  EXPLORATORY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30BEB0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73152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30BEB0"/>
                </a:solidFill>
                <a:latin typeface="Aptos"/>
              </a:rPr>
              <a:t>03 / RUNTIME &amp; RATINGS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03044"/>
                </a:solidFill>
                <a:latin typeface="Aptos"/>
              </a:rPr>
              <a:t>Movie length versus average IMDb rating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353312"/>
            <a:ext cx="713232" cy="50292"/>
          </a:xfrm>
          <a:prstGeom prst="rect">
            <a:avLst/>
          </a:prstGeom>
          <a:solidFill>
            <a:srgbClr val="FF8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1536192"/>
            <a:ext cx="10789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647486"/>
                </a:solidFill>
                <a:latin typeface="Aptos"/>
              </a:rPr>
              <a:t>Each point represents a movie in the plotted dataset.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103120"/>
            <a:ext cx="9966960" cy="3886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2212848"/>
            <a:ext cx="932688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10528"/>
            <a:ext cx="8046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 i="0">
                <a:solidFill>
                  <a:srgbClr val="697A8C"/>
                </a:solidFill>
                <a:latin typeface="Aptos"/>
              </a:rPr>
              <a:t>IMDB MOVIE DATASET  •  EXPLORATORY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30BEB0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73152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30BEB0"/>
                </a:solidFill>
                <a:latin typeface="Aptos"/>
              </a:rPr>
              <a:t>04 / DATA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Aptos"/>
              </a:rPr>
              <a:t>Cleaning steps before interpretation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353312"/>
            <a:ext cx="713232" cy="50292"/>
          </a:xfrm>
          <a:prstGeom prst="rect">
            <a:avLst/>
          </a:prstGeom>
          <a:solidFill>
            <a:srgbClr val="FF8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1536192"/>
            <a:ext cx="10789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B9C7D6"/>
                </a:solidFill>
                <a:latin typeface="Aptos"/>
              </a:rPr>
              <a:t>These steps help reduce missing-data issues and improve chart readability.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2240279"/>
            <a:ext cx="91440" cy="566928"/>
          </a:xfrm>
          <a:prstGeom prst="roundRect">
            <a:avLst/>
          </a:prstGeom>
          <a:solidFill>
            <a:srgbClr val="30B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212848"/>
            <a:ext cx="1007668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ptos"/>
              </a:rPr>
              <a:t>Missing values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523744"/>
            <a:ext cx="10021824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Rows with missing values in key fields such as runtime_minutes and start_year were removed.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3438144"/>
            <a:ext cx="91440" cy="566928"/>
          </a:xfrm>
          <a:prstGeom prst="roundRect">
            <a:avLst/>
          </a:prstGeom>
          <a:solidFill>
            <a:srgbClr val="FF8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3410712"/>
            <a:ext cx="1007668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ptos"/>
              </a:rPr>
              <a:t>Rating standardization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3721608"/>
            <a:ext cx="10021824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Ratings based on very few votes can be misleading—for example, a movie with one vote of 10/10.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4636008"/>
            <a:ext cx="91440" cy="566928"/>
          </a:xfrm>
          <a:prstGeom prst="roundRect">
            <a:avLst/>
          </a:prstGeom>
          <a:solidFill>
            <a:srgbClr val="30B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608576"/>
            <a:ext cx="1007668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ptos"/>
              </a:rPr>
              <a:t>Runtime filtering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" y="4919472"/>
            <a:ext cx="10021824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Extreme runtimes were filtered to reduce visual noise and keep the analysis focused on standard feature films.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10528"/>
            <a:ext cx="8046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 i="0">
                <a:solidFill>
                  <a:srgbClr val="B9C7D6"/>
                </a:solidFill>
                <a:latin typeface="Aptos"/>
              </a:rPr>
              <a:t>IMDB MOVIE DATASET  •  EXPLORATORY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30BEB0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15400" y="502920"/>
            <a:ext cx="2468880" cy="2468880"/>
          </a:xfrm>
          <a:prstGeom prst="ellipse">
            <a:avLst/>
          </a:prstGeom>
          <a:solidFill>
            <a:srgbClr val="192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82912" y="1170432"/>
            <a:ext cx="1143000" cy="1143000"/>
          </a:xfrm>
          <a:prstGeom prst="ellipse">
            <a:avLst/>
          </a:prstGeom>
          <a:solidFill>
            <a:srgbClr val="30B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325880"/>
            <a:ext cx="3657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0BEB0"/>
                </a:solidFill>
                <a:latin typeface="Aptos"/>
              </a:rPr>
              <a:t>05 / KEY 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777240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Aptos"/>
              </a:rPr>
              <a:t>Production volume
is not the same as
critical success.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187952"/>
            <a:ext cx="749808" cy="54864"/>
          </a:xfrm>
          <a:prstGeom prst="rect">
            <a:avLst/>
          </a:prstGeom>
          <a:solidFill>
            <a:srgbClr val="FF8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526280"/>
            <a:ext cx="896112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B9C7D6"/>
                </a:solidFill>
                <a:latin typeface="Aptos"/>
              </a:rPr>
              <a:t>Dramas and comedies are common in the dataset, while smaller genre combinations can show the highest average ratings.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577840"/>
            <a:ext cx="5623560" cy="502920"/>
          </a:xfrm>
          <a:prstGeom prst="roundRect">
            <a:avLst/>
          </a:prstGeom>
          <a:solidFill>
            <a:srgbClr val="192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5724144"/>
            <a:ext cx="5257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Next step: validate patterns against the full dataset and rating counts.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8046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 i="0">
                <a:solidFill>
                  <a:srgbClr val="B9C7D6"/>
                </a:solidFill>
                <a:latin typeface="Aptos"/>
              </a:rPr>
              <a:t>IMDB MOVIE DATASET  •  EXPLORATORY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30BEB0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